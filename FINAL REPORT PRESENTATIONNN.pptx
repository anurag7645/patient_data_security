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7" r:id="rId4"/>
    <p:sldId id="278" r:id="rId5"/>
    <p:sldId id="283" r:id="rId6"/>
    <p:sldId id="279" r:id="rId7"/>
    <p:sldId id="314" r:id="rId8"/>
    <p:sldId id="315" r:id="rId9"/>
    <p:sldId id="284" r:id="rId10"/>
    <p:sldId id="300" r:id="rId11"/>
    <p:sldId id="299" r:id="rId12"/>
    <p:sldId id="298" r:id="rId13"/>
    <p:sldId id="294" r:id="rId14"/>
    <p:sldId id="311" r:id="rId15"/>
    <p:sldId id="313" r:id="rId1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0"/>
      </p:ext>
    </p:extLst>
  </p:showPr>
  <p:clrMru>
    <a:srgbClr val="000A30"/>
    <a:srgbClr val="00A1DA"/>
    <a:srgbClr val="1D1E4C"/>
    <a:srgbClr val="1E1E4B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-528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69EB48F-F0D4-B21F-1DA7-B470C00CB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A6BBBD-FF66-4632-BD36-F80BA50F2B01}" type="datetimeFigureOut">
              <a:rPr lang="en-IN"/>
              <a:pPr>
                <a:defRPr/>
              </a:pPr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909EC6B-EE00-3DD1-6DF3-F39EB47D3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C61D275-E9A5-4B04-4EAA-76B54C8E4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0AE810-E20C-4F27-85F0-30F6502D935C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xmlns="" val="90075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55BDED8-ABF5-B04E-D668-3B8CE77FD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1574BF-641C-43A8-8D5E-79738B474908}" type="datetimeFigureOut">
              <a:rPr lang="en-IN"/>
              <a:pPr>
                <a:defRPr/>
              </a:pPr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D17BF31-43B8-26C7-B307-0D59ABFFE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246EBE2-371D-F9D4-4E42-027D88BF7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1CBC75-42F4-468F-B86F-A083BE5027B8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xmlns="" val="252317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ADD376A-DDFA-C368-493D-7D94A5F9A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0A0983-CF3B-45BE-8E40-D79C7136BFAD}" type="datetimeFigureOut">
              <a:rPr lang="en-IN"/>
              <a:pPr>
                <a:defRPr/>
              </a:pPr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99A6BF5-DEC5-3C8A-FBE9-361CFA3CD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667F907-574F-86C0-0CF3-C52572766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90F7D0-A600-4086-A8AF-367CC02730EB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xmlns="" val="175989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4E46B509-84CC-8E33-7E8B-91771AE6B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6DAB9-C25C-43C3-8A08-656C49A67A9C}" type="datetimeFigureOut">
              <a:rPr lang="en-IN"/>
              <a:pPr>
                <a:defRPr/>
              </a:pPr>
              <a:t>07-04-2026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21312667-3040-D671-E8E5-48CB040F5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47409F86-55D8-35DF-62BB-ED912B971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B9EEF7-1D24-40CF-83B1-2AB51BF260E9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xmlns="" val="3845820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ED3ADC11-EBE0-5B33-46C5-B060F3A4C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F2A723-2005-47DC-A4B2-0D39469AE3D3}" type="datetimeFigureOut">
              <a:rPr lang="en-IN"/>
              <a:pPr>
                <a:defRPr/>
              </a:pPr>
              <a:t>07-04-2026</a:t>
            </a:fld>
            <a:endParaRPr lang="en-I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5A9FBE9D-3C44-BFE1-C303-CE66AF2C6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D6982355-CA5C-8E59-441A-1DD343D6A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13401E-A97B-4656-9040-AC58172E71E0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xmlns="" val="4001564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xmlns="" id="{E0F7212F-A712-04A2-0580-A0B6AFE6E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1E16FD-10CA-4BE0-94BE-ABC7ACA66B0A}" type="datetimeFigureOut">
              <a:rPr lang="en-IN"/>
              <a:pPr>
                <a:defRPr/>
              </a:pPr>
              <a:t>07-04-2026</a:t>
            </a:fld>
            <a:endParaRPr lang="en-I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xmlns="" id="{B1DF65BB-71C0-14F9-E035-40EBC77BB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52F2EAD5-2AFA-7C93-9A16-B4A91D5F5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B006B7-397E-4708-A344-FBE49FDB3751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xmlns="" val="2287204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xmlns="" id="{E8177B3B-6E2C-E07F-0136-39BCC8247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F9CE15-754B-4761-82AF-941F2B1BF7C8}" type="datetimeFigureOut">
              <a:rPr lang="en-IN"/>
              <a:pPr>
                <a:defRPr/>
              </a:pPr>
              <a:t>07-04-2026</a:t>
            </a:fld>
            <a:endParaRPr lang="en-I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xmlns="" id="{AA231F31-0634-1525-3BDD-1B83A695D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C1DFB823-DA06-6E36-E069-0C16CCE76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56598A-0DD9-4502-8DF0-79AB086BDDCB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xmlns="" val="3922631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6B097A7E-B798-1F69-049E-E3E790C9A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DB13EE-CC8A-40CC-BA2F-942C9E8626A7}" type="datetimeFigureOut">
              <a:rPr lang="en-IN"/>
              <a:pPr>
                <a:defRPr/>
              </a:pPr>
              <a:t>07-04-2026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BE4AE714-68C4-6E68-B5F7-20EFB5C78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8A866449-7DFF-2FC1-814D-0A741FED4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D74BEE-67FC-404D-9CAC-93601F9C4403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xmlns="" val="3528490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9F8A4B5C-C648-489F-8F29-6F09D033D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A08A34-F9C8-49F5-BC37-2909DFD6AE65}" type="datetimeFigureOut">
              <a:rPr lang="en-IN"/>
              <a:pPr>
                <a:defRPr/>
              </a:pPr>
              <a:t>07-04-2026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D7CAC37C-3D1A-5E4D-A3FB-68A68D911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85E469E0-1ABE-A575-E401-370987DD4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6E39E-0F4C-49CA-A52F-7C5349A75EC4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xmlns="" val="2944110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ED64637-392E-EC62-AD5F-AEF82A88F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31C796-81D6-4382-BE91-540B448733FA}" type="datetimeFigureOut">
              <a:rPr lang="en-IN"/>
              <a:pPr>
                <a:defRPr/>
              </a:pPr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1D69B4C-DF01-B736-11C5-5D2B151EE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BE738C8-F8EC-9605-11AE-93391CCD2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1E0F55-AD10-493F-AE78-1356306D1FA0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xmlns="" val="2457927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F80074A-3622-813F-AAB0-A391676AB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66EEFB-A4E1-4930-B236-5B17D60BE132}" type="datetimeFigureOut">
              <a:rPr lang="en-IN"/>
              <a:pPr>
                <a:defRPr/>
              </a:pPr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0B29EAC-0EE5-5A92-BF2C-D35E9A25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7B3C9B3-6D39-C7C1-FF4F-DD80CB4EA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8867A1-0674-453B-8022-06C70D8CEFC3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xmlns="" val="1363971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xmlns="" id="{1D094395-09A1-D3F9-23B4-62E15ADBF97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xmlns="" id="{11B9FEDB-D17B-36F0-65C3-363826CEE8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B9CCA60-1E21-30B6-48B2-D0141FAA3B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C89D3B9-15D3-485F-B783-10A1894B72D9}" type="datetimeFigureOut">
              <a:rPr lang="en-IN"/>
              <a:pPr>
                <a:defRPr/>
              </a:pPr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C3D325C-633B-B6BF-7BFE-948DBC332D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D29E7CB-FF74-C319-BC71-800ECB2B77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615F5DCB-1FD6-430D-A2EF-D1E50FAAC65A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366BBE2-6FE2-65E4-50AB-A62717FA1356}"/>
              </a:ext>
            </a:extLst>
          </p:cNvPr>
          <p:cNvSpPr/>
          <p:nvPr/>
        </p:nvSpPr>
        <p:spPr>
          <a:xfrm>
            <a:off x="0" y="43960"/>
            <a:ext cx="12192000" cy="68580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2051" name="TextBox 5">
            <a:extLst>
              <a:ext uri="{FF2B5EF4-FFF2-40B4-BE49-F238E27FC236}">
                <a16:creationId xmlns:a16="http://schemas.microsoft.com/office/drawing/2014/main" xmlns="" id="{0F9ABF27-A0CD-E435-0177-83D9B46F9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338" y="6448425"/>
            <a:ext cx="2578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IN" altLang="en-US" sz="1800">
                <a:solidFill>
                  <a:schemeClr val="bg1"/>
                </a:solidFill>
              </a:rPr>
              <a:t>www.cambridge.edu.in</a:t>
            </a:r>
          </a:p>
        </p:txBody>
      </p:sp>
      <p:pic>
        <p:nvPicPr>
          <p:cNvPr id="2052" name="Picture Placeholder 8">
            <a:extLst>
              <a:ext uri="{FF2B5EF4-FFF2-40B4-BE49-F238E27FC236}">
                <a16:creationId xmlns:a16="http://schemas.microsoft.com/office/drawing/2014/main" xmlns="" id="{F6AB0CBD-F0F4-BAC1-3CDF-795A46A014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61" t="-110" r="36201" b="2740"/>
          <a:stretch>
            <a:fillRect/>
          </a:stretch>
        </p:blipFill>
        <p:spPr bwMode="auto">
          <a:xfrm>
            <a:off x="6324600" y="847725"/>
            <a:ext cx="5867400" cy="601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3" name="Title 6">
            <a:extLst>
              <a:ext uri="{FF2B5EF4-FFF2-40B4-BE49-F238E27FC236}">
                <a16:creationId xmlns:a16="http://schemas.microsoft.com/office/drawing/2014/main" xmlns="" id="{B4F30113-0041-FFCD-DBD7-EC6F0D568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4025" y="5545138"/>
            <a:ext cx="5565775" cy="762000"/>
          </a:xfrm>
        </p:spPr>
        <p:txBody>
          <a:bodyPr/>
          <a:lstStyle/>
          <a:p>
            <a:pPr algn="l" eaLnBrk="1" hangingPunct="1"/>
            <a:r>
              <a:rPr lang="en-US" altLang="en-US" sz="2400" b="1" i="1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</a:t>
            </a:r>
            <a:br>
              <a:rPr lang="en-US" altLang="en-US" sz="2400" b="1" i="1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altLang="en-US" sz="2400" b="1" i="1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Information Science &amp; Engineering</a:t>
            </a:r>
            <a:endParaRPr lang="en-IN" altLang="en-US" sz="2400" b="1" i="1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1949E9E4-7F47-46EC-F6A8-2B4771A75146}"/>
              </a:ext>
            </a:extLst>
          </p:cNvPr>
          <p:cNvSpPr/>
          <p:nvPr/>
        </p:nvSpPr>
        <p:spPr>
          <a:xfrm flipV="1">
            <a:off x="600075" y="5392738"/>
            <a:ext cx="1571625" cy="46037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pic>
        <p:nvPicPr>
          <p:cNvPr id="2055" name="Picture 1">
            <a:extLst>
              <a:ext uri="{FF2B5EF4-FFF2-40B4-BE49-F238E27FC236}">
                <a16:creationId xmlns:a16="http://schemas.microsoft.com/office/drawing/2014/main" xmlns="" id="{95772756-9F4C-60EA-247B-B42DF4C1A7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6363" y="141288"/>
            <a:ext cx="12795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6" name="TextBox 1">
            <a:extLst>
              <a:ext uri="{FF2B5EF4-FFF2-40B4-BE49-F238E27FC236}">
                <a16:creationId xmlns:a16="http://schemas.microsoft.com/office/drawing/2014/main" xmlns="" id="{C5B4DE16-32E9-C01A-AED3-7E7188FBF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850" y="1045969"/>
            <a:ext cx="5064125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Project Review – 1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I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7" name="TextBox 2">
            <a:extLst>
              <a:ext uri="{FF2B5EF4-FFF2-40B4-BE49-F238E27FC236}">
                <a16:creationId xmlns:a16="http://schemas.microsoft.com/office/drawing/2014/main" xmlns="" id="{1BD01742-2A78-D4D0-55A3-EA5B192454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825" y="1624013"/>
            <a:ext cx="5438775" cy="423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sz="2400" u="sng" dirty="0">
                <a:solidFill>
                  <a:schemeClr val="bg1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Title</a:t>
            </a:r>
            <a:r>
              <a:rPr lang="en-US" altLang="en-US" sz="2400" dirty="0">
                <a:solidFill>
                  <a:schemeClr val="bg1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 :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Cybersecurity Framework for Secure Patient Data Transmission in Healthcare Networks</a:t>
            </a:r>
            <a:endParaRPr lang="en-US" altLang="en-US" sz="2400" b="1" dirty="0">
              <a:solidFill>
                <a:schemeClr val="bg1"/>
              </a:solidFill>
              <a:latin typeface="Times New Roman" pitchFamily="18" charset="0"/>
              <a:ea typeface="Cambria" panose="02040503050406030204" pitchFamily="18" charset="0"/>
              <a:cs typeface="Times New Roman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800" dirty="0">
              <a:solidFill>
                <a:schemeClr val="bg1"/>
              </a:solidFill>
              <a:latin typeface="Times New Roman" pitchFamily="18" charset="0"/>
              <a:ea typeface="Cambria" panose="02040503050406030204" pitchFamily="18" charset="0"/>
              <a:cs typeface="Times New Roman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u="sng" dirty="0">
                <a:solidFill>
                  <a:schemeClr val="bg1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Batch No. - 52</a:t>
            </a:r>
            <a:r>
              <a:rPr lang="en-US" altLang="en-US" sz="2400" dirty="0">
                <a:solidFill>
                  <a:schemeClr val="bg1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/>
            </a:r>
            <a:br>
              <a:rPr lang="en-US" altLang="en-US" sz="2400" dirty="0">
                <a:solidFill>
                  <a:schemeClr val="bg1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</a:br>
            <a:endParaRPr lang="en-US" altLang="en-US" sz="900" dirty="0">
              <a:solidFill>
                <a:schemeClr val="bg1"/>
              </a:solidFill>
              <a:latin typeface="Times New Roman" pitchFamily="18" charset="0"/>
              <a:ea typeface="Cambria" panose="02040503050406030204" pitchFamily="18" charset="0"/>
              <a:cs typeface="Times New Roman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dirty="0" err="1">
                <a:solidFill>
                  <a:schemeClr val="bg1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Akshitha</a:t>
            </a:r>
            <a:r>
              <a:rPr lang="en-US" altLang="en-US" sz="1800" dirty="0">
                <a:solidFill>
                  <a:schemeClr val="bg1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 J</a:t>
            </a:r>
            <a:r>
              <a:rPr lang="en-IN" altLang="en-US" sz="1800" dirty="0">
                <a:solidFill>
                  <a:schemeClr val="bg1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		                 (</a:t>
            </a:r>
            <a:r>
              <a:rPr lang="en-IN" altLang="en-US" sz="1800" dirty="0" err="1">
                <a:solidFill>
                  <a:schemeClr val="bg1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1CD23IS006</a:t>
            </a:r>
            <a:r>
              <a:rPr lang="en-IN" altLang="en-US" sz="1800" dirty="0">
                <a:solidFill>
                  <a:schemeClr val="bg1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)      </a:t>
            </a:r>
            <a:br>
              <a:rPr lang="en-IN" altLang="en-US" sz="1800" dirty="0">
                <a:solidFill>
                  <a:schemeClr val="bg1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</a:br>
            <a:r>
              <a:rPr lang="en-IN" altLang="en-US" sz="1800" dirty="0" err="1">
                <a:solidFill>
                  <a:schemeClr val="bg1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JayaBhargavi</a:t>
            </a:r>
            <a:r>
              <a:rPr lang="en-IN" altLang="en-US" sz="1800" dirty="0">
                <a:solidFill>
                  <a:schemeClr val="bg1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 D                      	 	 (</a:t>
            </a:r>
            <a:r>
              <a:rPr lang="en-IN" altLang="en-US" sz="1800" dirty="0" err="1">
                <a:solidFill>
                  <a:schemeClr val="bg1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1CD23IS061</a:t>
            </a:r>
            <a:r>
              <a:rPr lang="en-IN" altLang="en-US" sz="1800" dirty="0">
                <a:solidFill>
                  <a:schemeClr val="bg1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)</a:t>
            </a:r>
            <a:br>
              <a:rPr lang="en-IN" altLang="en-US" sz="1800" dirty="0">
                <a:solidFill>
                  <a:schemeClr val="bg1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</a:br>
            <a:r>
              <a:rPr lang="en-IN" altLang="en-US" sz="1800" dirty="0" err="1">
                <a:solidFill>
                  <a:schemeClr val="bg1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Chandana</a:t>
            </a:r>
            <a:r>
              <a:rPr lang="en-IN" altLang="en-US" sz="1800" dirty="0">
                <a:solidFill>
                  <a:schemeClr val="bg1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 R                   		 (</a:t>
            </a:r>
            <a:r>
              <a:rPr lang="en-IN" altLang="en-US" sz="1800" dirty="0" err="1">
                <a:solidFill>
                  <a:schemeClr val="bg1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1CD23IS032</a:t>
            </a:r>
            <a:r>
              <a:rPr lang="en-IN" altLang="en-US" sz="1800" dirty="0">
                <a:solidFill>
                  <a:schemeClr val="bg1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IN" altLang="en-US" sz="1800" dirty="0">
              <a:solidFill>
                <a:schemeClr val="bg1"/>
              </a:solidFill>
              <a:latin typeface="Times New Roman" pitchFamily="18" charset="0"/>
              <a:ea typeface="Cambria" panose="02040503050406030204" pitchFamily="18" charset="0"/>
              <a:cs typeface="Times New Roman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u="sng" dirty="0">
                <a:solidFill>
                  <a:schemeClr val="bg1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Under the guidance of: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IN" altLang="en-US" sz="1800" dirty="0">
                <a:solidFill>
                  <a:schemeClr val="bg1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Prof. Asma Taj </a:t>
            </a:r>
            <a:br>
              <a:rPr lang="en-IN" altLang="en-US" sz="1800" dirty="0">
                <a:solidFill>
                  <a:schemeClr val="bg1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</a:br>
            <a:r>
              <a:rPr lang="en-IN" altLang="en-US" sz="1800" dirty="0">
                <a:solidFill>
                  <a:schemeClr val="bg1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ISE department.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IN" altLang="en-US" sz="2400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8" name="Picture 1">
            <a:extLst>
              <a:ext uri="{FF2B5EF4-FFF2-40B4-BE49-F238E27FC236}">
                <a16:creationId xmlns:a16="http://schemas.microsoft.com/office/drawing/2014/main" xmlns="" id="{87B71AEF-B20F-0EE1-3E46-9A5CE6962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0"/>
            <a:ext cx="116681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9" name="Picture 2">
            <a:extLst>
              <a:ext uri="{FF2B5EF4-FFF2-40B4-BE49-F238E27FC236}">
                <a16:creationId xmlns:a16="http://schemas.microsoft.com/office/drawing/2014/main" xmlns="" id="{5A2AD613-FC88-743E-6976-93CA87AE3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85888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edg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xmlns="" id="{40BFF73D-0880-D2FD-D6C1-9B6E3BFD10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075" y="61913"/>
            <a:ext cx="9475788" cy="679450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3600" b="1" dirty="0">
              <a:solidFill>
                <a:srgbClr val="000A30"/>
              </a:solidFill>
              <a:latin typeface="+mn-lt"/>
            </a:endParaRPr>
          </a:p>
        </p:txBody>
      </p:sp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xmlns="" id="{B2C00386-E859-2ADC-6E03-7FBFFCE2A803}"/>
              </a:ext>
            </a:extLst>
          </p:cNvPr>
          <p:cNvSpPr txBox="1">
            <a:spLocks/>
          </p:cNvSpPr>
          <p:nvPr/>
        </p:nvSpPr>
        <p:spPr bwMode="auto">
          <a:xfrm>
            <a:off x="447675" y="1296988"/>
            <a:ext cx="11241088" cy="49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150000"/>
              </a:lnSpc>
              <a:buNone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“Secure Health” system is a Django-based healthcare platform designed to protect sensitive patient data using role-based access control , OTP-based authentication, biometric authentication(face recognition system) and emergency access. It ensures secure login using biometric authentication , controlled file sharing, and prevents unauthorized access through one-time OTP verification. The system also supports automated PDF report generation and email notifications, improving efficiency and data security. Overall, it provides a reliable, scalable, and user-friendly solution for modern healthcare data management.</a:t>
            </a: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18">
            <a:extLst>
              <a:ext uri="{FF2B5EF4-FFF2-40B4-BE49-F238E27FC236}">
                <a16:creationId xmlns:a16="http://schemas.microsoft.com/office/drawing/2014/main" xmlns="" id="{8D088FB8-DED7-16C0-07E8-5703031EAB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09E4F764-E364-48CD-3605-FD45C5D2325B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93237DBC-0838-CB7A-7B5C-F59458EFA819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733D3B8F-7882-DBAC-BC90-EFC1360D5088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3080" name="Title 6">
            <a:extLst>
              <a:ext uri="{FF2B5EF4-FFF2-40B4-BE49-F238E27FC236}">
                <a16:creationId xmlns:a16="http://schemas.microsoft.com/office/drawing/2014/main" xmlns="" id="{A3DB06BF-B4B9-053F-4691-1B400A449687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3081" name="Picture 1">
            <a:extLst>
              <a:ext uri="{FF2B5EF4-FFF2-40B4-BE49-F238E27FC236}">
                <a16:creationId xmlns:a16="http://schemas.microsoft.com/office/drawing/2014/main" xmlns="" id="{1BACF830-F6CC-DCC4-B63F-DB3B64634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7938"/>
            <a:ext cx="1166812" cy="117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Picture 2">
            <a:extLst>
              <a:ext uri="{FF2B5EF4-FFF2-40B4-BE49-F238E27FC236}">
                <a16:creationId xmlns:a16="http://schemas.microsoft.com/office/drawing/2014/main" xmlns="" id="{149521FF-7A8E-72CD-E0F0-1F1C9C652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xmlns="" id="{6A1857E4-0C95-362F-DB5F-5CFB30E15D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8663" y="31750"/>
            <a:ext cx="5126037" cy="679450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b="1" dirty="0">
              <a:solidFill>
                <a:srgbClr val="000A30"/>
              </a:solidFill>
              <a:latin typeface="+mn-lt"/>
            </a:endParaRPr>
          </a:p>
        </p:txBody>
      </p:sp>
      <p:pic>
        <p:nvPicPr>
          <p:cNvPr id="4099" name="Picture 18">
            <a:extLst>
              <a:ext uri="{FF2B5EF4-FFF2-40B4-BE49-F238E27FC236}">
                <a16:creationId xmlns:a16="http://schemas.microsoft.com/office/drawing/2014/main" xmlns="" id="{D95C1D19-D748-2945-AC0A-E97080D486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DAC41AE4-DD75-6D20-9A6D-E9DA827D4841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D2DFBE80-2BEF-0D5B-848B-BB9967852FBC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A982263C-06F9-344B-24FB-99B422796B75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4103" name="Title 6">
            <a:extLst>
              <a:ext uri="{FF2B5EF4-FFF2-40B4-BE49-F238E27FC236}">
                <a16:creationId xmlns:a16="http://schemas.microsoft.com/office/drawing/2014/main" xmlns="" id="{C7E4C274-5C2E-D2BA-28E1-35D141357A8A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sp>
        <p:nvSpPr>
          <p:cNvPr id="4104" name="TextBox 4">
            <a:extLst>
              <a:ext uri="{FF2B5EF4-FFF2-40B4-BE49-F238E27FC236}">
                <a16:creationId xmlns:a16="http://schemas.microsoft.com/office/drawing/2014/main" xmlns="" id="{31504C3E-C8E0-A82F-E680-BD64282BD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" y="1363663"/>
            <a:ext cx="11115675" cy="4765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indent="-285750"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data security is a growing global concern.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hospital systems rely on weak password mechanisms.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Unauthorized access and data leaks are common.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“Secure Health” provides a secure, OTP-based healthcare management system.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Django Framework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security and modularity.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creating Emergency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Quick access in critical cases</a:t>
            </a:r>
          </a:p>
          <a:p>
            <a:pPr marL="285750" indent="-285750" algn="just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05" name="Picture 1">
            <a:extLst>
              <a:ext uri="{FF2B5EF4-FFF2-40B4-BE49-F238E27FC236}">
                <a16:creationId xmlns:a16="http://schemas.microsoft.com/office/drawing/2014/main" xmlns="" id="{AEF0B924-4E62-D982-4BED-6BD79D147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0"/>
            <a:ext cx="1166812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6" name="Picture 2">
            <a:extLst>
              <a:ext uri="{FF2B5EF4-FFF2-40B4-BE49-F238E27FC236}">
                <a16:creationId xmlns:a16="http://schemas.microsoft.com/office/drawing/2014/main" xmlns="" id="{3B6CDEC0-5D7F-A963-0F92-5F02E18DC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heel spokes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xmlns="" id="{6D89744D-13C6-3E41-DA8D-7DE4433F81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8663" y="31750"/>
            <a:ext cx="5126037" cy="679450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600" b="1" dirty="0">
              <a:solidFill>
                <a:srgbClr val="000A30"/>
              </a:solidFill>
              <a:latin typeface="+mn-lt"/>
            </a:endParaRPr>
          </a:p>
        </p:txBody>
      </p:sp>
      <p:pic>
        <p:nvPicPr>
          <p:cNvPr id="5123" name="Picture 18">
            <a:extLst>
              <a:ext uri="{FF2B5EF4-FFF2-40B4-BE49-F238E27FC236}">
                <a16:creationId xmlns:a16="http://schemas.microsoft.com/office/drawing/2014/main" xmlns="" id="{24CA814C-2BF1-5608-9CEB-0A18FEFE50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F6833B69-2916-B1ED-05DB-1BD01B4D2765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12CD11DD-0239-92C0-7424-F239FA3B795F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4920B05D-53BE-3E88-088F-13A9919F3414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5127" name="Title 6">
            <a:extLst>
              <a:ext uri="{FF2B5EF4-FFF2-40B4-BE49-F238E27FC236}">
                <a16:creationId xmlns:a16="http://schemas.microsoft.com/office/drawing/2014/main" xmlns="" id="{02CCCF41-C136-9520-C941-A1FEC9FC678E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6A7CB63-0C03-1C4B-881C-3014FBCD90A1}"/>
              </a:ext>
            </a:extLst>
          </p:cNvPr>
          <p:cNvSpPr txBox="1"/>
          <p:nvPr/>
        </p:nvSpPr>
        <p:spPr>
          <a:xfrm>
            <a:off x="357188" y="1236663"/>
            <a:ext cx="11115675" cy="378565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Healthcare data is vulnerable to cyber threats.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Non availability to emergency access leads to life risk.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Password-based logins are prone to phishing.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No mechanism to securely share patient files.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Lack of file-level access control and tracking.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Need for a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secure, OTP-driven and face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regcognition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role-based system</a:t>
            </a:r>
            <a:endParaRPr lang="en-GB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9" name="Picture 1">
            <a:extLst>
              <a:ext uri="{FF2B5EF4-FFF2-40B4-BE49-F238E27FC236}">
                <a16:creationId xmlns:a16="http://schemas.microsoft.com/office/drawing/2014/main" xmlns="" id="{EA8E77AD-14EA-2CC5-8E20-0D1B98606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0"/>
            <a:ext cx="1166812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0" name="Picture 2">
            <a:extLst>
              <a:ext uri="{FF2B5EF4-FFF2-40B4-BE49-F238E27FC236}">
                <a16:creationId xmlns:a16="http://schemas.microsoft.com/office/drawing/2014/main" xmlns="" id="{AE61E0A3-A156-28E5-AD1D-89A25BD2F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diamond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xmlns="" id="{F463F7C8-913B-68A6-AA0A-4A9B49CD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93925" y="-249238"/>
            <a:ext cx="10515600" cy="1327151"/>
          </a:xfrm>
        </p:spPr>
        <p:txBody>
          <a:bodyPr/>
          <a:lstStyle/>
          <a:p>
            <a:pPr algn="ctr"/>
            <a:r>
              <a:rPr lang="en-I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1F73AE8-206F-C0EC-35BB-44EDD1C13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649" y="1322388"/>
            <a:ext cx="11179363" cy="4316412"/>
          </a:xfrm>
        </p:spPr>
        <p:txBody>
          <a:bodyPr/>
          <a:lstStyle/>
          <a:p>
            <a:pPr marL="285750" indent="-28575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web application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managing patient data.</a:t>
            </a:r>
          </a:p>
          <a:p>
            <a:pPr marL="285750" indent="-28575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multi-role access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(Admin, Doctor, Management).</a:t>
            </a:r>
          </a:p>
          <a:p>
            <a:pPr marL="285750" indent="-28575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traditional passwords with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permanent OTP login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OTP-based secure file and report sharing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PDF reports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patient data.</a:t>
            </a:r>
          </a:p>
          <a:p>
            <a:pPr marL="285750" indent="-28575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usability, reliability, and compliance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data protection standards.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  <a:buSzPct val="100000"/>
              <a:tabLst>
                <a:tab pos="457200" algn="l"/>
              </a:tabLst>
              <a:defRPr/>
            </a:pPr>
            <a:endParaRPr lang="en-IN" sz="2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31B909E1-E960-6E13-F70C-D5409B99B9DD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786DE4CC-D2C8-CA54-0047-0804A5D2B9A7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F64C64A-7A6C-9388-9B95-9A4E7A31C62F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6151" name="Title 6">
            <a:extLst>
              <a:ext uri="{FF2B5EF4-FFF2-40B4-BE49-F238E27FC236}">
                <a16:creationId xmlns:a16="http://schemas.microsoft.com/office/drawing/2014/main" xmlns="" id="{DC3A2A28-4853-B3DC-47AD-A04D2FEA56B5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6152" name="Picture 1">
            <a:extLst>
              <a:ext uri="{FF2B5EF4-FFF2-40B4-BE49-F238E27FC236}">
                <a16:creationId xmlns:a16="http://schemas.microsoft.com/office/drawing/2014/main" xmlns="" id="{4F1B604C-8FFF-614B-7909-140F5083A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0"/>
            <a:ext cx="1166812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3" name="Picture 3">
            <a:extLst>
              <a:ext uri="{FF2B5EF4-FFF2-40B4-BE49-F238E27FC236}">
                <a16:creationId xmlns:a16="http://schemas.microsoft.com/office/drawing/2014/main" xmlns="" id="{B32CBFCA-BEAA-D262-FCC4-4B6177CDD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edg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xmlns="" id="{ED948CFF-01F2-C368-2BB7-8AC9E2EF7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9913" y="46038"/>
            <a:ext cx="5126037" cy="67945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pic>
        <p:nvPicPr>
          <p:cNvPr id="7171" name="Picture 18">
            <a:extLst>
              <a:ext uri="{FF2B5EF4-FFF2-40B4-BE49-F238E27FC236}">
                <a16:creationId xmlns:a16="http://schemas.microsoft.com/office/drawing/2014/main" xmlns="" id="{7AEB40DE-FE46-2E63-BBEA-88FF880EAE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D54F1B14-9CB6-F675-A3DD-2255FA337420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2F378209-320D-9174-D46C-B549DB6AACB0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21089DB2-55C4-8626-CB1C-3FDBEC2DF5BE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7175" name="Title 6">
            <a:extLst>
              <a:ext uri="{FF2B5EF4-FFF2-40B4-BE49-F238E27FC236}">
                <a16:creationId xmlns:a16="http://schemas.microsoft.com/office/drawing/2014/main" xmlns="" id="{D3521872-68AC-0D77-09FC-1893757D8651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DB68732-49CE-24E6-B50B-1A10F8A3963B}"/>
              </a:ext>
            </a:extLst>
          </p:cNvPr>
          <p:cNvSpPr txBox="1"/>
          <p:nvPr/>
        </p:nvSpPr>
        <p:spPr>
          <a:xfrm>
            <a:off x="447675" y="976313"/>
            <a:ext cx="11115677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OTP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-based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authentication for secure login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Biometric authentication (Face Recognition) for enhanced identity verification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Multi-factor authentication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OTP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+ Face Recognition) for high security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Role-Based Access Control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RBAC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(Admin, Doctor, Management)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Secure file sharing using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OTP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verification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Automated PDF report generation (tamper-proof)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Email alerts for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OTP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notifications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Data encryption and privacy protection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Scalable and efficient system using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Django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7" name="Picture 1">
            <a:extLst>
              <a:ext uri="{FF2B5EF4-FFF2-40B4-BE49-F238E27FC236}">
                <a16:creationId xmlns:a16="http://schemas.microsoft.com/office/drawing/2014/main" xmlns="" id="{1985E71C-BACD-5C8F-2C1C-E82309CD46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7938"/>
            <a:ext cx="1166812" cy="117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8" name="Picture 2">
            <a:extLst>
              <a:ext uri="{FF2B5EF4-FFF2-40B4-BE49-F238E27FC236}">
                <a16:creationId xmlns:a16="http://schemas.microsoft.com/office/drawing/2014/main" xmlns="" id="{FDCC39E0-E257-EF70-3FB7-01248617E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circl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8">
            <a:extLst>
              <a:ext uri="{FF2B5EF4-FFF2-40B4-BE49-F238E27FC236}">
                <a16:creationId xmlns:a16="http://schemas.microsoft.com/office/drawing/2014/main" xmlns="" id="{EE7E9D70-1167-0526-414E-A1EFA2A87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5713" y="25400"/>
            <a:ext cx="5126037" cy="1254125"/>
          </a:xfrm>
        </p:spPr>
        <p:txBody>
          <a:bodyPr/>
          <a:lstStyle/>
          <a:p>
            <a:r>
              <a:rPr lang="en-US" alt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</a:t>
            </a:r>
            <a:r>
              <a:rPr lang="en-US" altLang="en-US" sz="3600" b="1" dirty="0"/>
              <a:t/>
            </a:r>
            <a:br>
              <a:rPr lang="en-US" altLang="en-US" sz="3600" b="1" dirty="0"/>
            </a:br>
            <a:endParaRPr lang="en-US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91" name="Picture 18">
            <a:extLst>
              <a:ext uri="{FF2B5EF4-FFF2-40B4-BE49-F238E27FC236}">
                <a16:creationId xmlns:a16="http://schemas.microsoft.com/office/drawing/2014/main" xmlns="" id="{8636A1E7-1DDD-8484-72D8-1580EED523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5EAF164B-9A51-33D9-9BF0-D73D4885CE66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9B42B1D7-C2BB-CF52-2303-3CD1D9B9E8C4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A89C21E5-1D68-EA13-6EE0-AD0FF555B612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12295" name="Title 6">
            <a:extLst>
              <a:ext uri="{FF2B5EF4-FFF2-40B4-BE49-F238E27FC236}">
                <a16:creationId xmlns:a16="http://schemas.microsoft.com/office/drawing/2014/main" xmlns="" id="{8F07AE4F-A4CA-F4AE-5FFF-E54EF4CA166A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12319" name="Picture 1">
            <a:extLst>
              <a:ext uri="{FF2B5EF4-FFF2-40B4-BE49-F238E27FC236}">
                <a16:creationId xmlns:a16="http://schemas.microsoft.com/office/drawing/2014/main" xmlns="" id="{67BEF005-C011-CB55-E4FF-6D958C417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0"/>
            <a:ext cx="1166812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20" name="Picture 3">
            <a:extLst>
              <a:ext uri="{FF2B5EF4-FFF2-40B4-BE49-F238E27FC236}">
                <a16:creationId xmlns:a16="http://schemas.microsoft.com/office/drawing/2014/main" xmlns="" id="{AC34F3E0-74FC-90C5-2374-92F93E1A0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40E348A-7731-FD2A-1BAC-30C96C84430D}"/>
              </a:ext>
            </a:extLst>
          </p:cNvPr>
          <p:cNvSpPr txBox="1"/>
          <p:nvPr/>
        </p:nvSpPr>
        <p:spPr>
          <a:xfrm>
            <a:off x="447675" y="1285875"/>
            <a:ext cx="11113679" cy="4888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Uses password-based authentication only (easily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hackable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No biometric authentication (no face/fingerprint verification)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No proper role-based access control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Unsecured file sharing methods (risk of data leaks)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No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OTP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or multi-factor authentication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No audit logs or tracking system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Manual report generation (time-consuming)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High vulnerability to cyber attacks and unauthorized access</a:t>
            </a:r>
          </a:p>
          <a:p>
            <a:pPr lvl="0">
              <a:lnSpc>
                <a:spcPct val="150000"/>
              </a:lnSpc>
            </a:pPr>
            <a:endParaRPr lang="en-US" dirty="0"/>
          </a:p>
        </p:txBody>
      </p:sp>
    </p:spTree>
  </p:cSld>
  <p:clrMapOvr>
    <a:masterClrMapping/>
  </p:clrMapOvr>
  <p:transition>
    <p:spli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8">
            <a:extLst>
              <a:ext uri="{FF2B5EF4-FFF2-40B4-BE49-F238E27FC236}">
                <a16:creationId xmlns:a16="http://schemas.microsoft.com/office/drawing/2014/main" xmlns="" id="{EE7E9D70-1167-0526-414E-A1EFA2A87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5713" y="25400"/>
            <a:ext cx="5126037" cy="1254125"/>
          </a:xfrm>
        </p:spPr>
        <p:txBody>
          <a:bodyPr/>
          <a:lstStyle/>
          <a:p>
            <a:r>
              <a:rPr lang="en-US" alt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</a:t>
            </a:r>
            <a:r>
              <a:rPr lang="en-US" altLang="en-US" sz="3600" b="1" dirty="0"/>
              <a:t/>
            </a:r>
            <a:br>
              <a:rPr lang="en-US" altLang="en-US" sz="3600" b="1" dirty="0"/>
            </a:br>
            <a:endParaRPr lang="en-US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91" name="Picture 18">
            <a:extLst>
              <a:ext uri="{FF2B5EF4-FFF2-40B4-BE49-F238E27FC236}">
                <a16:creationId xmlns:a16="http://schemas.microsoft.com/office/drawing/2014/main" xmlns="" id="{8636A1E7-1DDD-8484-72D8-1580EED523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5EAF164B-9A51-33D9-9BF0-D73D4885CE66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9B42B1D7-C2BB-CF52-2303-3CD1D9B9E8C4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A89C21E5-1D68-EA13-6EE0-AD0FF555B612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12295" name="Title 6">
            <a:extLst>
              <a:ext uri="{FF2B5EF4-FFF2-40B4-BE49-F238E27FC236}">
                <a16:creationId xmlns:a16="http://schemas.microsoft.com/office/drawing/2014/main" xmlns="" id="{8F07AE4F-A4CA-F4AE-5FFF-E54EF4CA166A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12319" name="Picture 1">
            <a:extLst>
              <a:ext uri="{FF2B5EF4-FFF2-40B4-BE49-F238E27FC236}">
                <a16:creationId xmlns:a16="http://schemas.microsoft.com/office/drawing/2014/main" xmlns="" id="{67BEF005-C011-CB55-E4FF-6D958C417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0"/>
            <a:ext cx="1166812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20" name="Picture 3">
            <a:extLst>
              <a:ext uri="{FF2B5EF4-FFF2-40B4-BE49-F238E27FC236}">
                <a16:creationId xmlns:a16="http://schemas.microsoft.com/office/drawing/2014/main" xmlns="" id="{AC34F3E0-74FC-90C5-2374-92F93E1A0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40E348A-7731-FD2A-1BAC-30C96C84430D}"/>
              </a:ext>
            </a:extLst>
          </p:cNvPr>
          <p:cNvSpPr txBox="1"/>
          <p:nvPr/>
        </p:nvSpPr>
        <p:spPr>
          <a:xfrm>
            <a:off x="447675" y="1285875"/>
            <a:ext cx="1111367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OTP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-based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secure login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Biometric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authentication (face/fingerprint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End-to-end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encrypted data transmission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Role-Based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Access Control (Admin, Doctor, Patient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Secure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file sharing using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OTP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Audit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logs for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monitoring</a:t>
            </a:r>
          </a:p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Emergency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access system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spli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xmlns="" id="{7DF17470-5D84-7091-694E-AF108E515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75" y="-201613"/>
            <a:ext cx="10515600" cy="1325563"/>
          </a:xfrm>
        </p:spPr>
        <p:txBody>
          <a:bodyPr/>
          <a:lstStyle/>
          <a:p>
            <a:pPr algn="ctr"/>
            <a:r>
              <a:rPr lang="en-I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E77647F-12B6-8B2B-A85E-E8E293833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615" y="1099893"/>
            <a:ext cx="10515600" cy="5111750"/>
          </a:xfrm>
        </p:spPr>
        <p:txBody>
          <a:bodyPr/>
          <a:lstStyle/>
          <a:p>
            <a:pPr marL="285750" indent="-28575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in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Django 5.0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Python 3.12.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Email-based OTP using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SMTP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 generation via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ReportLab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UI using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for login, OTP validation, and file access security.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Deployed on local server using Django’s development server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800"/>
              </a:spcAft>
              <a:buNone/>
              <a:tabLst>
                <a:tab pos="457200" algn="l"/>
              </a:tabLst>
              <a:defRPr/>
            </a:pPr>
            <a:endParaRPr lang="en-IN" sz="2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None/>
              <a:tabLst>
                <a:tab pos="914400" algn="l"/>
              </a:tabLst>
              <a:defRPr/>
            </a:pPr>
            <a:endParaRPr lang="en-IN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defRPr/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196" name="Picture 18">
            <a:extLst>
              <a:ext uri="{FF2B5EF4-FFF2-40B4-BE49-F238E27FC236}">
                <a16:creationId xmlns:a16="http://schemas.microsoft.com/office/drawing/2014/main" xmlns="" id="{286A7E65-52F9-FCB1-DF77-078538701D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631A81C2-9B41-5AA3-FB0B-565C44CE1BCD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C829713B-45B8-8CA1-5A26-1D33F22390AB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442280D0-489A-0B03-4CA0-B9E496AB84AF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8200" name="Title 6">
            <a:extLst>
              <a:ext uri="{FF2B5EF4-FFF2-40B4-BE49-F238E27FC236}">
                <a16:creationId xmlns:a16="http://schemas.microsoft.com/office/drawing/2014/main" xmlns="" id="{B6F66DA1-CE7D-92BC-F619-85D5C1EC86CC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8201" name="Picture 1">
            <a:extLst>
              <a:ext uri="{FF2B5EF4-FFF2-40B4-BE49-F238E27FC236}">
                <a16:creationId xmlns:a16="http://schemas.microsoft.com/office/drawing/2014/main" xmlns="" id="{D749725C-CDC0-6F1D-96E6-A15DAFA85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0"/>
            <a:ext cx="1166812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2" name="Picture 3">
            <a:extLst>
              <a:ext uri="{FF2B5EF4-FFF2-40B4-BE49-F238E27FC236}">
                <a16:creationId xmlns:a16="http://schemas.microsoft.com/office/drawing/2014/main" xmlns="" id="{2723852B-5A17-53C3-5FB3-41BA1A35D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hee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xmlns="" id="{CC004FB0-90F4-D6FD-9399-941B37ECD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058988" y="-165100"/>
            <a:ext cx="10515601" cy="1325563"/>
          </a:xfrm>
        </p:spPr>
        <p:txBody>
          <a:bodyPr/>
          <a:lstStyle/>
          <a:p>
            <a:pPr algn="ctr"/>
            <a:r>
              <a:rPr lang="en-IN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A23DB09-8256-A975-5685-BBC8563A1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075" y="833719"/>
            <a:ext cx="10614772" cy="5118846"/>
          </a:xfrm>
        </p:spPr>
        <p:txBody>
          <a:bodyPr/>
          <a:lstStyle/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Enhanced Security </a:t>
            </a: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– OTP-based login prevents hacking &amp; data breaches</a:t>
            </a:r>
          </a:p>
          <a:p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RBAC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– Only authorized users can access specific data</a:t>
            </a:r>
          </a:p>
          <a:p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Secure File Sharing </a:t>
            </a: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– OTP ensures safe access to records</a:t>
            </a:r>
          </a:p>
          <a:p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Data Privacy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– Protects sensitive patient information</a:t>
            </a:r>
          </a:p>
          <a:p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Automated Reports </a:t>
            </a: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– Generates accurate, tamper-proof PDFs</a:t>
            </a:r>
          </a:p>
          <a:p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Efficiency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– Saves time and improves workflow</a:t>
            </a:r>
          </a:p>
          <a:p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Email Alerts </a:t>
            </a: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– Secure OTP communication</a:t>
            </a:r>
          </a:p>
          <a:p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Scalable System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– Easy to expand using Django</a:t>
            </a:r>
          </a:p>
          <a:p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Audit &amp; Tracking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– Monitors user activity and access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Access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Quick access in critical cases</a:t>
            </a:r>
          </a:p>
          <a:p>
            <a:pPr>
              <a:buNone/>
            </a:pPr>
            <a:endParaRPr lang="en-GB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44" name="Picture 18">
            <a:extLst>
              <a:ext uri="{FF2B5EF4-FFF2-40B4-BE49-F238E27FC236}">
                <a16:creationId xmlns:a16="http://schemas.microsoft.com/office/drawing/2014/main" xmlns="" id="{7FA4BB8C-AFBD-1F3D-4839-C43B4245FD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BB90D7D6-D415-82D6-0D09-3D7ACAB8AFFD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B72B5470-759F-FE24-10FE-99489B8E590B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0AA47D71-6B41-3DBD-BF1A-E0C71D47A31C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10248" name="Title 6">
            <a:extLst>
              <a:ext uri="{FF2B5EF4-FFF2-40B4-BE49-F238E27FC236}">
                <a16:creationId xmlns:a16="http://schemas.microsoft.com/office/drawing/2014/main" xmlns="" id="{3DFCE489-71BC-3023-B04D-B46AF0E020CA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10249" name="Picture 1">
            <a:extLst>
              <a:ext uri="{FF2B5EF4-FFF2-40B4-BE49-F238E27FC236}">
                <a16:creationId xmlns:a16="http://schemas.microsoft.com/office/drawing/2014/main" xmlns="" id="{9F362C98-9F7B-A146-9F4E-D6C7D8D3F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0"/>
            <a:ext cx="1166812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0" name="Picture 3">
            <a:extLst>
              <a:ext uri="{FF2B5EF4-FFF2-40B4-BE49-F238E27FC236}">
                <a16:creationId xmlns:a16="http://schemas.microsoft.com/office/drawing/2014/main" xmlns="" id="{2879FEDF-0E05-B046-B2B6-3C91DA7B4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pull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8">
            <a:extLst>
              <a:ext uri="{FF2B5EF4-FFF2-40B4-BE49-F238E27FC236}">
                <a16:creationId xmlns:a16="http://schemas.microsoft.com/office/drawing/2014/main" xmlns="" id="{86AF29E3-F2F9-9E65-E054-BEBDB4459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38275" y="303213"/>
            <a:ext cx="10515600" cy="792162"/>
          </a:xfrm>
        </p:spPr>
        <p:txBody>
          <a:bodyPr/>
          <a:lstStyle/>
          <a:p>
            <a:pPr algn="ctr"/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r>
              <a:rPr lang="en-US" altLang="en-US"/>
              <a:t/>
            </a:r>
            <a:br>
              <a:rPr lang="en-US" altLang="en-US"/>
            </a:br>
            <a:endParaRPr lang="en-US" altLang="en-US"/>
          </a:p>
        </p:txBody>
      </p:sp>
      <p:pic>
        <p:nvPicPr>
          <p:cNvPr id="11267" name="Picture 18">
            <a:extLst>
              <a:ext uri="{FF2B5EF4-FFF2-40B4-BE49-F238E27FC236}">
                <a16:creationId xmlns:a16="http://schemas.microsoft.com/office/drawing/2014/main" xmlns="" id="{2469BE82-E2AC-D575-5569-C1E28AAFAF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E2CB7407-E3E1-47AE-F9C2-187A7AD353FF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D9A4253E-D6D6-F702-5CEE-A55077E9AC4D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65C7FE93-4464-6787-BF68-DA04F3D02894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11271" name="Title 6">
            <a:extLst>
              <a:ext uri="{FF2B5EF4-FFF2-40B4-BE49-F238E27FC236}">
                <a16:creationId xmlns:a16="http://schemas.microsoft.com/office/drawing/2014/main" xmlns="" id="{D19EBDF7-82D0-F043-F8E0-5301E70CF9AD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11295" name="Picture 1">
            <a:extLst>
              <a:ext uri="{FF2B5EF4-FFF2-40B4-BE49-F238E27FC236}">
                <a16:creationId xmlns:a16="http://schemas.microsoft.com/office/drawing/2014/main" xmlns="" id="{52E49597-3A9E-F6E6-A73D-FD94EDC5D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0"/>
            <a:ext cx="1166812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96" name="Picture 2">
            <a:extLst>
              <a:ext uri="{FF2B5EF4-FFF2-40B4-BE49-F238E27FC236}">
                <a16:creationId xmlns:a16="http://schemas.microsoft.com/office/drawing/2014/main" xmlns="" id="{DD0EEF28-3A58-FABC-8674-D6FB6A716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7BA50AC-1F46-7FA0-77EF-FB8E128259FD}"/>
              </a:ext>
            </a:extLst>
          </p:cNvPr>
          <p:cNvSpPr txBox="1"/>
          <p:nvPr/>
        </p:nvSpPr>
        <p:spPr>
          <a:xfrm>
            <a:off x="307105" y="1058710"/>
            <a:ext cx="11615954" cy="5493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400" b="1" dirty="0">
                <a:latin typeface="Times New Roman" pitchFamily="18" charset="0"/>
                <a:cs typeface="Times New Roman" pitchFamily="18" charset="0"/>
              </a:rPr>
              <a:t>S. Sinha, P. Shankar K.C., and S. Jain (2021).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alt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“Evolution of Access Control Models for Protection of Patient Details: A Survey.”</a:t>
            </a:r>
            <a:br>
              <a:rPr lang="en-US" alt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International Journal of Engineering and Technology, Vol. 7(2.8), pp. 554–558.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400" b="1" dirty="0">
                <a:latin typeface="Times New Roman" pitchFamily="18" charset="0"/>
                <a:cs typeface="Times New Roman" pitchFamily="18" charset="0"/>
              </a:rPr>
              <a:t>H. F. </a:t>
            </a:r>
            <a:r>
              <a:rPr lang="en-US" altLang="en-US" sz="2400" b="1" dirty="0" err="1">
                <a:latin typeface="Times New Roman" pitchFamily="18" charset="0"/>
                <a:cs typeface="Times New Roman" pitchFamily="18" charset="0"/>
              </a:rPr>
              <a:t>Atlam</a:t>
            </a:r>
            <a:r>
              <a:rPr lang="en-US" altLang="en-US" sz="2400" b="1" dirty="0">
                <a:latin typeface="Times New Roman" pitchFamily="18" charset="0"/>
                <a:cs typeface="Times New Roman" pitchFamily="18" charset="0"/>
              </a:rPr>
              <a:t> and Y. Yang (2025).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alt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“Enhancing Healthcare Security: A Unified RBAC and ABAC Risk-Aware Access Control Approach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.” Future 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Internet, Vol. 17, Issue 6, p. 262.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400" b="1" dirty="0">
                <a:latin typeface="Times New Roman" pitchFamily="18" charset="0"/>
                <a:cs typeface="Times New Roman" pitchFamily="18" charset="0"/>
              </a:rPr>
              <a:t>M. A. Khan and I. U. Durrani (2022).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alt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“A Survey of Authentication in Internet of Things-Enabled Healthcare Systems.”</a:t>
            </a:r>
            <a:br>
              <a:rPr lang="en-US" alt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Sensors, Vol. 22, No. 23, Article 9089.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</p:cSld>
  <p:clrMapOvr>
    <a:masterClrMapping/>
  </p:clrMapOvr>
  <p:transition>
    <p:pull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8">
            <a:extLst>
              <a:ext uri="{FF2B5EF4-FFF2-40B4-BE49-F238E27FC236}">
                <a16:creationId xmlns:a16="http://schemas.microsoft.com/office/drawing/2014/main" xmlns="" id="{EE7E9D70-1167-0526-414E-A1EFA2A87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5713" y="25400"/>
            <a:ext cx="5126037" cy="1254125"/>
          </a:xfrm>
        </p:spPr>
        <p:txBody>
          <a:bodyPr/>
          <a:lstStyle/>
          <a:p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r>
              <a:rPr lang="en-US" altLang="en-US" sz="3600" b="1" dirty="0"/>
              <a:t/>
            </a:r>
            <a:br>
              <a:rPr lang="en-US" altLang="en-US" sz="3600" b="1" dirty="0"/>
            </a:br>
            <a:endParaRPr lang="en-US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91" name="Picture 18">
            <a:extLst>
              <a:ext uri="{FF2B5EF4-FFF2-40B4-BE49-F238E27FC236}">
                <a16:creationId xmlns:a16="http://schemas.microsoft.com/office/drawing/2014/main" xmlns="" id="{8636A1E7-1DDD-8484-72D8-1580EED523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5EAF164B-9A51-33D9-9BF0-D73D4885CE66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9B42B1D7-C2BB-CF52-2303-3CD1D9B9E8C4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A89C21E5-1D68-EA13-6EE0-AD0FF555B612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12295" name="Title 6">
            <a:extLst>
              <a:ext uri="{FF2B5EF4-FFF2-40B4-BE49-F238E27FC236}">
                <a16:creationId xmlns:a16="http://schemas.microsoft.com/office/drawing/2014/main" xmlns="" id="{8F07AE4F-A4CA-F4AE-5FFF-E54EF4CA166A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12319" name="Picture 1">
            <a:extLst>
              <a:ext uri="{FF2B5EF4-FFF2-40B4-BE49-F238E27FC236}">
                <a16:creationId xmlns:a16="http://schemas.microsoft.com/office/drawing/2014/main" xmlns="" id="{67BEF005-C011-CB55-E4FF-6D958C417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0"/>
            <a:ext cx="1166812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20" name="Picture 3">
            <a:extLst>
              <a:ext uri="{FF2B5EF4-FFF2-40B4-BE49-F238E27FC236}">
                <a16:creationId xmlns:a16="http://schemas.microsoft.com/office/drawing/2014/main" xmlns="" id="{AC34F3E0-74FC-90C5-2374-92F93E1A0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40E348A-7731-FD2A-1BAC-30C96C84430D}"/>
              </a:ext>
            </a:extLst>
          </p:cNvPr>
          <p:cNvSpPr txBox="1"/>
          <p:nvPr/>
        </p:nvSpPr>
        <p:spPr>
          <a:xfrm>
            <a:off x="447675" y="1285875"/>
            <a:ext cx="1111367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  H. F.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Atlam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A. Azad, M. O.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Alassafi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A.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Alshdadi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A.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Alenezi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(2022).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“Risk-Based Access Control Model: A Systematic Literature Review.”</a:t>
            </a:r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Internet, Vol. 12, No. 6, Article 103.</a:t>
            </a:r>
          </a:p>
          <a:p>
            <a:pPr lvl="0">
              <a:lnSpc>
                <a:spcPct val="15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  A. Dadhania and H. Patel (2024).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e-DRBAC-HC: Extended Decentralized Role-Based Access Control for Healthcare Systems Using Blockchain.”</a:t>
            </a:r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Intelligent Systems and Applications in Engineering, Vol. 12, No. 3, pp. 2046–2055</a:t>
            </a:r>
          </a:p>
          <a:p>
            <a:endParaRPr lang="en-US" dirty="0"/>
          </a:p>
        </p:txBody>
      </p:sp>
    </p:spTree>
  </p:cSld>
  <p:clrMapOvr>
    <a:masterClrMapping/>
  </p:clrMapOvr>
  <p:transition>
    <p:spli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8">
            <a:extLst>
              <a:ext uri="{FF2B5EF4-FFF2-40B4-BE49-F238E27FC236}">
                <a16:creationId xmlns:a16="http://schemas.microsoft.com/office/drawing/2014/main" xmlns="" id="{CFBD827A-780D-02BA-45A8-9C92302AE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9913" y="46038"/>
            <a:ext cx="8513762" cy="862012"/>
          </a:xfrm>
        </p:spPr>
        <p:txBody>
          <a:bodyPr/>
          <a:lstStyle/>
          <a:p>
            <a:pPr algn="l"/>
            <a:r>
              <a:rPr lang="en-IN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Specification</a:t>
            </a:r>
            <a:endParaRPr lang="en-US" altLang="en-US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363" name="Picture 18">
            <a:extLst>
              <a:ext uri="{FF2B5EF4-FFF2-40B4-BE49-F238E27FC236}">
                <a16:creationId xmlns:a16="http://schemas.microsoft.com/office/drawing/2014/main" xmlns="" id="{5FDE1DE6-CF08-8246-5C86-CEBBC35246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618AE7C0-40C7-151B-44BA-F32F669476E8}"/>
              </a:ext>
            </a:extLst>
          </p:cNvPr>
          <p:cNvSpPr/>
          <p:nvPr/>
        </p:nvSpPr>
        <p:spPr>
          <a:xfrm>
            <a:off x="1982788" y="985838"/>
            <a:ext cx="900112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63D772FA-58CE-91FC-9BA9-1D75887BF834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C149339A-1B84-2D34-F974-223B24D47314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15367" name="Title 6">
            <a:extLst>
              <a:ext uri="{FF2B5EF4-FFF2-40B4-BE49-F238E27FC236}">
                <a16:creationId xmlns:a16="http://schemas.microsoft.com/office/drawing/2014/main" xmlns="" id="{364574A6-1C9F-DDD4-2885-C22D8C66AC72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3E9E9B4-5F30-8EC0-CD54-87F96BFD27C8}"/>
              </a:ext>
            </a:extLst>
          </p:cNvPr>
          <p:cNvSpPr txBox="1"/>
          <p:nvPr/>
        </p:nvSpPr>
        <p:spPr>
          <a:xfrm>
            <a:off x="501650" y="1127125"/>
            <a:ext cx="11385550" cy="489364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Hardware Requirements: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Processor: Intel i5 or higher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RAM: Minimum 8 GB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Hard Disk: 500 GB or higher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Webcamera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Software Requirements: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Backend: Python (Django Framework)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Frontend: HTML, CSS, JavaScript, Bootstrap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Database: SQLite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Email via SMTP for OTP delivery.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Libraries: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ReportLab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(PDFs), Pillow (images)</a:t>
            </a:r>
          </a:p>
          <a:p>
            <a:pPr algn="just">
              <a:defRPr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369" name="Picture 1">
            <a:extLst>
              <a:ext uri="{FF2B5EF4-FFF2-40B4-BE49-F238E27FC236}">
                <a16:creationId xmlns:a16="http://schemas.microsoft.com/office/drawing/2014/main" xmlns="" id="{7F6EA5BF-084B-EE33-A032-E5F12D754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0"/>
            <a:ext cx="1166812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0" name="Picture 3">
            <a:extLst>
              <a:ext uri="{FF2B5EF4-FFF2-40B4-BE49-F238E27FC236}">
                <a16:creationId xmlns:a16="http://schemas.microsoft.com/office/drawing/2014/main" xmlns="" id="{5E837599-6900-ED29-E123-204FF86953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heel spokes="2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72270F4-FA4F-6C5D-DDE5-A39CD2744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xmlns="" id="{03E6893E-D0A2-9074-BEA9-F7527F303146}"/>
              </a:ext>
            </a:extLst>
          </p:cNvPr>
          <p:cNvSpPr txBox="1">
            <a:spLocks/>
          </p:cNvSpPr>
          <p:nvPr/>
        </p:nvSpPr>
        <p:spPr bwMode="auto">
          <a:xfrm>
            <a:off x="447675" y="1296988"/>
            <a:ext cx="11241088" cy="49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Font typeface="Arial" panose="020B0604020202020204" pitchFamily="34" charset="0"/>
              <a:buNone/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18">
            <a:extLst>
              <a:ext uri="{FF2B5EF4-FFF2-40B4-BE49-F238E27FC236}">
                <a16:creationId xmlns:a16="http://schemas.microsoft.com/office/drawing/2014/main" xmlns="" id="{8FEFB37E-AD87-D328-05DE-589ADC73E4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081B1526-0BA9-F485-D227-A0AC463F7D36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E4D948A7-FEEE-BC23-45B5-4A385571D036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B56216F1-398E-5505-5AC3-ECB0F7DA8A88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3080" name="Title 6">
            <a:extLst>
              <a:ext uri="{FF2B5EF4-FFF2-40B4-BE49-F238E27FC236}">
                <a16:creationId xmlns:a16="http://schemas.microsoft.com/office/drawing/2014/main" xmlns="" id="{1EB62425-ECEE-C465-880D-BCF2CA555E52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3081" name="Picture 1">
            <a:extLst>
              <a:ext uri="{FF2B5EF4-FFF2-40B4-BE49-F238E27FC236}">
                <a16:creationId xmlns:a16="http://schemas.microsoft.com/office/drawing/2014/main" xmlns="" id="{7DC63991-EF82-28D8-91F1-075855166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290653" y="7938"/>
            <a:ext cx="879121" cy="883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Picture 2">
            <a:extLst>
              <a:ext uri="{FF2B5EF4-FFF2-40B4-BE49-F238E27FC236}">
                <a16:creationId xmlns:a16="http://schemas.microsoft.com/office/drawing/2014/main" xmlns="" id="{E8BC2A46-5372-3FE6-F40B-0D9F57B09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1" y="0"/>
            <a:ext cx="1097653" cy="891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B5BC9DEC-ECCF-B460-B7B0-C41E71A64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0391" y="2592796"/>
            <a:ext cx="935705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/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5989CE6-F578-9ADF-7D96-48B401DE1DAD}"/>
              </a:ext>
            </a:extLst>
          </p:cNvPr>
          <p:cNvSpPr txBox="1"/>
          <p:nvPr/>
        </p:nvSpPr>
        <p:spPr>
          <a:xfrm>
            <a:off x="4531056" y="-111419"/>
            <a:ext cx="34528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Architecture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C15FD83-151D-6566-BAA2-BD01A5AC6B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52500" y="477672"/>
            <a:ext cx="10287000" cy="5800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44994346"/>
      </p:ext>
    </p:extLst>
  </p:cSld>
  <p:clrMapOvr>
    <a:masterClrMapping/>
  </p:clrMapOvr>
  <p:transition>
    <p:wedg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4DCD9AB-24EB-4C55-EBBB-CECAEB777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18">
            <a:extLst>
              <a:ext uri="{FF2B5EF4-FFF2-40B4-BE49-F238E27FC236}">
                <a16:creationId xmlns:a16="http://schemas.microsoft.com/office/drawing/2014/main" xmlns="" id="{A8CD518A-1FBA-0597-BB01-D0D8DB187E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FC62B199-D769-A5D3-402E-A96BA65DC3BB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0BDD1C8A-3DD3-4D29-66AD-41C29EB0138E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E4ABCC42-808D-AD61-020A-99C91D5A5F2D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3080" name="Title 6">
            <a:extLst>
              <a:ext uri="{FF2B5EF4-FFF2-40B4-BE49-F238E27FC236}">
                <a16:creationId xmlns:a16="http://schemas.microsoft.com/office/drawing/2014/main" xmlns="" id="{C65842D2-3169-5F8B-A9DC-26B97B4F0D7B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3081" name="Picture 1">
            <a:extLst>
              <a:ext uri="{FF2B5EF4-FFF2-40B4-BE49-F238E27FC236}">
                <a16:creationId xmlns:a16="http://schemas.microsoft.com/office/drawing/2014/main" xmlns="" id="{477532A4-A593-37AF-1C93-A8D124C0B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7938"/>
            <a:ext cx="1166812" cy="117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Picture 2">
            <a:extLst>
              <a:ext uri="{FF2B5EF4-FFF2-40B4-BE49-F238E27FC236}">
                <a16:creationId xmlns:a16="http://schemas.microsoft.com/office/drawing/2014/main" xmlns="" id="{3647F560-4722-BA01-0C44-2C3050E0E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F196706-6AA6-61AC-413D-CEA0F40F8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0391" y="2592796"/>
            <a:ext cx="935705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/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CE47C40F-7977-9477-4B59-E34F1719C96C}"/>
              </a:ext>
            </a:extLst>
          </p:cNvPr>
          <p:cNvSpPr/>
          <p:nvPr/>
        </p:nvSpPr>
        <p:spPr>
          <a:xfrm>
            <a:off x="3316405" y="2505670"/>
            <a:ext cx="490321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xmlns="" val="2046303639"/>
      </p:ext>
    </p:extLst>
  </p:cSld>
  <p:clrMapOvr>
    <a:masterClrMapping/>
  </p:clrMapOvr>
  <p:transition>
    <p:wedg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3648</TotalTime>
  <Words>805</Words>
  <Application>Microsoft Office PowerPoint</Application>
  <PresentationFormat>Custom</PresentationFormat>
  <Paragraphs>130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Department of Information Science &amp; Engineering</vt:lpstr>
      <vt:lpstr>ABSTRACT</vt:lpstr>
      <vt:lpstr>INTRODUCTION</vt:lpstr>
      <vt:lpstr>PROBLEM STATEMENT</vt:lpstr>
      <vt:lpstr>Objectives</vt:lpstr>
      <vt:lpstr>PROPOSED SOLUTION</vt:lpstr>
      <vt:lpstr>Existing System  </vt:lpstr>
      <vt:lpstr>Proposed System  </vt:lpstr>
      <vt:lpstr>Implementation Module</vt:lpstr>
      <vt:lpstr>Advantages</vt:lpstr>
      <vt:lpstr>Literature Review </vt:lpstr>
      <vt:lpstr>Literature Review </vt:lpstr>
      <vt:lpstr>Requirements Specification</vt:lpstr>
      <vt:lpstr>Slide 14</vt:lpstr>
      <vt:lpstr>Slide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CCD</dc:creator>
  <cp:lastModifiedBy>DELL</cp:lastModifiedBy>
  <cp:revision>163</cp:revision>
  <dcterms:created xsi:type="dcterms:W3CDTF">2019-06-01T04:36:06Z</dcterms:created>
  <dcterms:modified xsi:type="dcterms:W3CDTF">2026-04-07T16:33:26Z</dcterms:modified>
</cp:coreProperties>
</file>